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3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77724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16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77724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 Semibold"/>
              </a:rPr>
              <a:t>PF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786384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 Semibold"/>
              </a:rPr>
              <a:t>PolicyForge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0972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C7D8D3"/>
                </a:solidFill>
                <a:latin typeface="Segoe UI Semibold"/>
              </a:rPr>
              <a:t>PAYMENT POLICY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Segoe UI Semibold"/>
              </a:rPr>
              <a:t>Compiling Written Payment Policy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Segoe UI Semibold"/>
              </a:rPr>
              <a:t>into Governed, Executable Rules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160520"/>
            <a:ext cx="1280160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3434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C7D8D3"/>
                </a:solidFill>
                <a:latin typeface="Segoe UI"/>
              </a:rPr>
              <a:t>A generative-AI opportunity for Cotiviti — the model authors the rule, a deterministic engine applies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5321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Segoe UI Semibold"/>
              </a:rPr>
              <a:t>Harsha Venkateshwara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C7D8D3"/>
                </a:solidFill>
                <a:latin typeface="Segoe UI"/>
              </a:rPr>
              <a:t>Cotiviti Intern Assessment  ·  Topic 3: Content Management in Health Care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21208"/>
            <a:ext cx="274320" cy="77724"/>
          </a:xfrm>
          <a:prstGeom prst="rect">
            <a:avLst/>
          </a:prstGeom>
          <a:solidFill>
            <a:srgbClr val="16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7" y="411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7D6E"/>
                </a:solidFill>
                <a:latin typeface="Segoe UI Semibold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C332B"/>
                </a:solidFill>
                <a:latin typeface="Segoe UI Semibold"/>
              </a:rPr>
              <a:t>Author the rule with AI. Apply it with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5C6B69"/>
                </a:solidFill>
                <a:latin typeface="Segoe UI"/>
              </a:rPr>
              <a:t>PolicyForge turns written payment policy into a transparent, executable claim edit — and keeps an expert accountable for every 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57400"/>
            <a:ext cx="10908792" cy="1417320"/>
          </a:xfrm>
          <a:prstGeom prst="roundRect">
            <a:avLst>
              <a:gd name="adj" fmla="val 4000"/>
            </a:avLst>
          </a:prstGeom>
          <a:solidFill>
            <a:srgbClr val="0C332B"/>
          </a:solidFill>
          <a:ln>
            <a:noFill/>
          </a:ln>
          <a:effectLst/>
          <a:effectLst>
            <a:outerShdw blurRad="90000" dist="38000" dir="5400000" rotWithShape="0">
              <a:srgbClr val="0C33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24028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Segoe UI"/>
              </a:rPr>
              <a:t>Applying rules to claims is solved. </a:t>
            </a:r>
            <a:r>
              <a:rPr sz="1800" b="0">
                <a:solidFill>
                  <a:srgbClr val="FFFFFF"/>
                </a:solidFill>
                <a:latin typeface="Segoe UI"/>
              </a:rPr>
              <a:t>Authoring the rule from written policy is the slow, manual, costly step — </a:t>
            </a:r>
            <a:r>
              <a:rPr sz="1800" b="1">
                <a:solidFill>
                  <a:srgbClr val="FFFFFF"/>
                </a:solidFill>
                <a:latin typeface="Segoe UI Semibold"/>
              </a:rPr>
              <a:t>and that is exactly where generative AI helps today without surrendering control.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2587752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2"/>
            </a:solidFill>
          </a:ln>
          <a:effectLst/>
          <a:effectLst>
            <a:outerShdw blurRad="90000" dist="38000" dir="5400000" rotWithShape="0">
              <a:srgbClr val="0C33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794760"/>
            <a:ext cx="82296" cy="1783080"/>
          </a:xfrm>
          <a:prstGeom prst="rect">
            <a:avLst/>
          </a:prstGeom>
          <a:solidFill>
            <a:srgbClr val="16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087368"/>
            <a:ext cx="21762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C332B"/>
                </a:solidFill>
                <a:latin typeface="Segoe UI Semibold"/>
              </a:rPr>
              <a:t>Days → minutes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846320"/>
            <a:ext cx="21762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C6B69"/>
                </a:solidFill>
                <a:latin typeface="Segoe UI"/>
              </a:rPr>
              <a:t>policy published to working edit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0712" y="3794760"/>
            <a:ext cx="2587752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2"/>
            </a:solidFill>
          </a:ln>
          <a:effectLst/>
          <a:effectLst>
            <a:outerShdw blurRad="90000" dist="38000" dir="5400000" rotWithShape="0">
              <a:srgbClr val="0C33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10712" y="3794760"/>
            <a:ext cx="82296" cy="178308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66744" y="4087368"/>
            <a:ext cx="21762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C332B"/>
                </a:solidFill>
                <a:latin typeface="Segoe UI Semibold"/>
              </a:rPr>
              <a:t>100% reproducible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6744" y="4846320"/>
            <a:ext cx="21762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C6B69"/>
                </a:solidFill>
                <a:latin typeface="Segoe UI"/>
              </a:rPr>
              <a:t>deterministic engine, not the LLM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3794760"/>
            <a:ext cx="2587752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2"/>
            </a:solidFill>
          </a:ln>
          <a:effectLst/>
          <a:effectLst>
            <a:outerShdw blurRad="90000" dist="38000" dir="5400000" rotWithShape="0">
              <a:srgbClr val="0C33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344" y="3794760"/>
            <a:ext cx="82296" cy="178308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4087368"/>
            <a:ext cx="21762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C332B"/>
                </a:solidFill>
                <a:latin typeface="Segoe UI Semibold"/>
              </a:rPr>
              <a:t>Every clause cited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4846320"/>
            <a:ext cx="21762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C6B69"/>
                </a:solidFill>
                <a:latin typeface="Segoe UI"/>
              </a:rPr>
              <a:t>verbatim phrase + confidence score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51976" y="3794760"/>
            <a:ext cx="2587752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2"/>
            </a:solidFill>
          </a:ln>
          <a:effectLst/>
          <a:effectLst>
            <a:outerShdw blurRad="90000" dist="38000" dir="5400000" rotWithShape="0">
              <a:srgbClr val="0C33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51976" y="3794760"/>
            <a:ext cx="82296" cy="1783080"/>
          </a:xfrm>
          <a:prstGeom prst="rect">
            <a:avLst/>
          </a:prstGeom>
          <a:solidFill>
            <a:srgbClr val="D3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08007" y="4087368"/>
            <a:ext cx="21762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C332B"/>
                </a:solidFill>
                <a:latin typeface="Segoe UI Semibold"/>
              </a:rPr>
              <a:t>Human-gated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8007" y="4846320"/>
            <a:ext cx="21762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C6B69"/>
                </a:solidFill>
                <a:latin typeface="Segoe UI"/>
              </a:rPr>
              <a:t>low-confidence rules route to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B69"/>
                </a:solidFill>
                <a:latin typeface="Segoe UI"/>
              </a:rPr>
              <a:t>PolicyForge  ·  Cotiviti Intern Assessment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6455664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B69"/>
                </a:solidFill>
                <a:latin typeface="Segoe UI Semi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21208"/>
            <a:ext cx="274320" cy="77724"/>
          </a:xfrm>
          <a:prstGeom prst="rect">
            <a:avLst/>
          </a:prstGeom>
          <a:solidFill>
            <a:srgbClr val="16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7" y="411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7D6E"/>
                </a:solidFill>
                <a:latin typeface="Segoe UI Semibold"/>
              </a:rPr>
              <a:t>THE TOPIC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C332B"/>
                </a:solidFill>
                <a:latin typeface="Segoe UI Semibold"/>
              </a:rPr>
              <a:t>Turning written policy into executable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5C6B69"/>
                </a:solidFill>
                <a:latin typeface="Segoe UI"/>
              </a:rPr>
              <a:t>Topic 3 names a stubbornly manual task — converting written policy into rules, features, or models.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5532120" cy="39776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2"/>
            </a:solidFill>
          </a:ln>
          <a:effectLst/>
          <a:effectLst>
            <a:outerShdw blurRad="90000" dist="38000" dir="5400000" rotWithShape="0">
              <a:srgbClr val="0C33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7D6E"/>
                </a:solidFill>
                <a:latin typeface="Segoe UI Semibold"/>
              </a:rPr>
              <a:t>Policy compilation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97480"/>
            <a:ext cx="50292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B2B2A"/>
                </a:solidFill>
                <a:latin typeface="Segoe UI"/>
              </a:rPr>
              <a:t>The act of turning a written payment or coding policy into a </a:t>
            </a:r>
            <a:r>
              <a:rPr sz="1400" b="1">
                <a:solidFill>
                  <a:srgbClr val="1B2B2A"/>
                </a:solidFill>
                <a:latin typeface="Segoe UI Semibold"/>
              </a:rPr>
              <a:t>transparent rule a deterministic engine can apply to claims</a:t>
            </a:r>
            <a:r>
              <a:rPr sz="1400" b="0">
                <a:solidFill>
                  <a:srgbClr val="1B2B2A"/>
                </a:solidFill>
                <a:latin typeface="Segoe UI"/>
              </a:rPr>
              <a:t> — with every rule traceable back to the exact clause that produced it.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600" b="0">
                <a:solidFill>
                  <a:srgbClr val="1B2B2A"/>
                </a:solidFill>
                <a:latin typeface="Segoe UI"/>
              </a:rPr>
              <a:t/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5C6B69"/>
                </a:solidFill>
                <a:latin typeface="Segoe UI"/>
              </a:rPr>
              <a:t>Today a payment policy is authored in prose for a human to read. Before a claims system can act on it, a clinician or certified coder translates that prose into precise logic, line by 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011680"/>
            <a:ext cx="5148072" cy="1874519"/>
          </a:xfrm>
          <a:prstGeom prst="roundRect">
            <a:avLst>
              <a:gd name="adj" fmla="val 5000"/>
            </a:avLst>
          </a:prstGeom>
          <a:solidFill>
            <a:srgbClr val="E3F0ED"/>
          </a:solidFill>
          <a:ln w="12700">
            <a:solidFill>
              <a:srgbClr val="DC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21284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7D6E"/>
                </a:solidFill>
                <a:latin typeface="Segoe UI Semibold"/>
              </a:rPr>
              <a:t>APPLYING  a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578608"/>
            <a:ext cx="4663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B2B2A"/>
                </a:solidFill>
                <a:latin typeface="Segoe UI"/>
              </a:rPr>
              <a:t>Mature and solved. Rule engines have run claim edits for decades — the heart of Cotiviti's Payment Policy Management.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114800"/>
            <a:ext cx="5148072" cy="1874519"/>
          </a:xfrm>
          <a:prstGeom prst="roundRect">
            <a:avLst>
              <a:gd name="adj" fmla="val 5000"/>
            </a:avLst>
          </a:prstGeom>
          <a:solidFill>
            <a:srgbClr val="0C332B"/>
          </a:solidFill>
          <a:ln>
            <a:noFill/>
          </a:ln>
          <a:effectLst/>
          <a:effectLst>
            <a:outerShdw blurRad="90000" dist="38000" dir="5400000" rotWithShape="0">
              <a:srgbClr val="0C33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431596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8860B"/>
                </a:solidFill>
                <a:latin typeface="Segoe UI Semibold"/>
              </a:rPr>
              <a:t>AUTHORING  a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681728"/>
            <a:ext cx="4663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FFFFFF"/>
                </a:solidFill>
                <a:latin typeface="Segoe UI"/>
              </a:rPr>
              <a:t>Still done by hand. For the first time a capable model can read prose and emit structured output a schema validates — making this step a candidate for assistance.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B69"/>
                </a:solidFill>
                <a:latin typeface="Segoe UI"/>
              </a:rPr>
              <a:t>PolicyForge  ·  Cotiviti Intern Assessment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455664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B69"/>
                </a:solidFill>
                <a:latin typeface="Segoe UI Semi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21208"/>
            <a:ext cx="274320" cy="77724"/>
          </a:xfrm>
          <a:prstGeom prst="rect">
            <a:avLst/>
          </a:prstGeom>
          <a:solidFill>
            <a:srgbClr val="16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7" y="411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7D6E"/>
                </a:solidFill>
                <a:latin typeface="Segoe UI Semibold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C332B"/>
                </a:solidFill>
                <a:latin typeface="Segoe UI Semibold"/>
              </a:rPr>
              <a:t>The constraint is human effort, not the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5C6B69"/>
                </a:solidFill>
                <a:latin typeface="Segoe UI"/>
              </a:rPr>
              <a:t>A national plan maintains thousands of policies that change constantly. Each change starts a slow manual chain.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40280"/>
            <a:ext cx="19202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4E2"/>
            </a:solidFill>
          </a:ln>
          <a:effectLst/>
          <a:effectLst>
            <a:outerShdw blurRad="90000" dist="38000" dir="5400000" rotWithShape="0">
              <a:srgbClr val="0C33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58568"/>
            <a:ext cx="1920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B2B2A"/>
                </a:solidFill>
                <a:latin typeface="Segoe UI Semibold"/>
              </a:rPr>
              <a:t>Policy revised</a:t>
            </a:r>
          </a:p>
        </p:txBody>
      </p:sp>
      <p:sp>
        <p:nvSpPr>
          <p:cNvPr id="10" name="Chevron 9"/>
          <p:cNvSpPr/>
          <p:nvPr/>
        </p:nvSpPr>
        <p:spPr>
          <a:xfrm>
            <a:off x="2578608" y="2551176"/>
            <a:ext cx="219456" cy="256032"/>
          </a:xfrm>
          <a:prstGeom prst="chevron">
            <a:avLst/>
          </a:prstGeom>
          <a:solidFill>
            <a:srgbClr val="5C6B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16352" y="2240280"/>
            <a:ext cx="19202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4E2"/>
            </a:solidFill>
          </a:ln>
          <a:effectLst/>
          <a:effectLst>
            <a:outerShdw blurRad="90000" dist="38000" dir="5400000" rotWithShape="0">
              <a:srgbClr val="0C33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16352" y="2258568"/>
            <a:ext cx="1920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B2B2A"/>
                </a:solidFill>
                <a:latin typeface="Segoe UI Semibold"/>
              </a:rPr>
              <a:t>Expert re-reads</a:t>
            </a:r>
          </a:p>
        </p:txBody>
      </p:sp>
      <p:sp>
        <p:nvSpPr>
          <p:cNvPr id="13" name="Chevron 12"/>
          <p:cNvSpPr/>
          <p:nvPr/>
        </p:nvSpPr>
        <p:spPr>
          <a:xfrm>
            <a:off x="4754879" y="2551176"/>
            <a:ext cx="219456" cy="256032"/>
          </a:xfrm>
          <a:prstGeom prst="chevron">
            <a:avLst/>
          </a:prstGeom>
          <a:solidFill>
            <a:srgbClr val="5C6B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92624" y="2240280"/>
            <a:ext cx="19202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4E2"/>
            </a:solidFill>
          </a:ln>
          <a:effectLst/>
          <a:effectLst>
            <a:outerShdw blurRad="90000" dist="38000" dir="5400000" rotWithShape="0">
              <a:srgbClr val="0C33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92624" y="2258568"/>
            <a:ext cx="1920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B2B2A"/>
                </a:solidFill>
                <a:latin typeface="Segoe UI Semibold"/>
              </a:rPr>
              <a:t>Re-writes logic</a:t>
            </a:r>
          </a:p>
        </p:txBody>
      </p:sp>
      <p:sp>
        <p:nvSpPr>
          <p:cNvPr id="16" name="Chevron 15"/>
          <p:cNvSpPr/>
          <p:nvPr/>
        </p:nvSpPr>
        <p:spPr>
          <a:xfrm>
            <a:off x="6931152" y="2551176"/>
            <a:ext cx="219456" cy="256032"/>
          </a:xfrm>
          <a:prstGeom prst="chevron">
            <a:avLst/>
          </a:prstGeom>
          <a:solidFill>
            <a:srgbClr val="5C6B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68896" y="2240280"/>
            <a:ext cx="19202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4E2"/>
            </a:solidFill>
          </a:ln>
          <a:effectLst/>
          <a:effectLst>
            <a:outerShdw blurRad="90000" dist="38000" dir="5400000" rotWithShape="0">
              <a:srgbClr val="0C33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68896" y="2258568"/>
            <a:ext cx="1920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B2B2A"/>
                </a:solidFill>
                <a:latin typeface="Segoe UI Semibold"/>
              </a:rPr>
              <a:t>Tests the edit</a:t>
            </a:r>
          </a:p>
        </p:txBody>
      </p:sp>
      <p:sp>
        <p:nvSpPr>
          <p:cNvPr id="19" name="Chevron 18"/>
          <p:cNvSpPr/>
          <p:nvPr/>
        </p:nvSpPr>
        <p:spPr>
          <a:xfrm>
            <a:off x="9107424" y="2551176"/>
            <a:ext cx="219456" cy="256032"/>
          </a:xfrm>
          <a:prstGeom prst="chevron">
            <a:avLst/>
          </a:prstGeom>
          <a:solidFill>
            <a:srgbClr val="5C6B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345167" y="2240280"/>
            <a:ext cx="19202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4E2"/>
            </a:solidFill>
          </a:ln>
          <a:effectLst/>
          <a:effectLst>
            <a:outerShdw blurRad="90000" dist="38000" dir="5400000" rotWithShape="0">
              <a:srgbClr val="0C33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7" y="2258568"/>
            <a:ext cx="1920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B2B2A"/>
                </a:solidFill>
                <a:latin typeface="Segoe UI Semibold"/>
              </a:rPr>
              <a:t>Deploys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461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34F4A"/>
                </a:solidFill>
                <a:latin typeface="Segoe UI Semibold"/>
              </a:rPr>
              <a:t>Slow  ·  expensive  ·  inconsistent between authors  ·  every day of lag is a day of incorrect payments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069080"/>
            <a:ext cx="3511296" cy="1783080"/>
          </a:xfrm>
          <a:prstGeom prst="roundRect">
            <a:avLst>
              <a:gd name="adj" fmla="val 5000"/>
            </a:avLst>
          </a:prstGeom>
          <a:solidFill>
            <a:srgbClr val="0C332B"/>
          </a:solidFill>
          <a:ln>
            <a:noFill/>
          </a:ln>
          <a:effectLst/>
          <a:effectLst>
            <a:outerShdw blurRad="90000" dist="38000" dir="5400000" rotWithShape="0">
              <a:srgbClr val="0C33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325112"/>
            <a:ext cx="30083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100+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983480"/>
            <a:ext cx="300837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7D8D3"/>
                </a:solidFill>
                <a:latin typeface="Segoe UI"/>
              </a:rPr>
              <a:t>payers served, including 23 of the top 25 health plans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34256" y="4069080"/>
            <a:ext cx="3511296" cy="1783080"/>
          </a:xfrm>
          <a:prstGeom prst="roundRect">
            <a:avLst>
              <a:gd name="adj" fmla="val 5000"/>
            </a:avLst>
          </a:prstGeom>
          <a:solidFill>
            <a:srgbClr val="0C332B"/>
          </a:solidFill>
          <a:ln>
            <a:noFill/>
          </a:ln>
          <a:effectLst/>
          <a:effectLst>
            <a:outerShdw blurRad="90000" dist="38000" dir="5400000" rotWithShape="0">
              <a:srgbClr val="0C33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08576" y="4325112"/>
            <a:ext cx="30083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99.90%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08576" y="4983480"/>
            <a:ext cx="300837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7D8D3"/>
                </a:solidFill>
                <a:latin typeface="Segoe UI"/>
              </a:rPr>
              <a:t>measured policy-administration accuracy Cotiviti stakes its reputation 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28431" y="4069080"/>
            <a:ext cx="3511296" cy="1783080"/>
          </a:xfrm>
          <a:prstGeom prst="roundRect">
            <a:avLst>
              <a:gd name="adj" fmla="val 5000"/>
            </a:avLst>
          </a:prstGeom>
          <a:solidFill>
            <a:srgbClr val="0C332B"/>
          </a:solidFill>
          <a:ln>
            <a:noFill/>
          </a:ln>
          <a:effectLst/>
          <a:effectLst>
            <a:outerShdw blurRad="90000" dist="38000" dir="5400000" rotWithShape="0">
              <a:srgbClr val="0C33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02752" y="4325112"/>
            <a:ext cx="30083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Thousands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4983480"/>
            <a:ext cx="300837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7D8D3"/>
                </a:solidFill>
                <a:latin typeface="Segoe UI"/>
              </a:rPr>
              <a:t>of payment policies, changing as codes, evidence &amp; regulation move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B69"/>
                </a:solidFill>
                <a:latin typeface="Segoe UI"/>
              </a:rPr>
              <a:t>PolicyForge  ·  Cotiviti Intern Assessment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455664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B69"/>
                </a:solidFill>
                <a:latin typeface="Segoe UI Semi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21208"/>
            <a:ext cx="274320" cy="77724"/>
          </a:xfrm>
          <a:prstGeom prst="rect">
            <a:avLst/>
          </a:prstGeom>
          <a:solidFill>
            <a:srgbClr val="16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7" y="411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7D6E"/>
                </a:solidFill>
                <a:latin typeface="Segoe UI Semibold"/>
              </a:rPr>
              <a:t>WHY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C332B"/>
                </a:solidFill>
                <a:latin typeface="Segoe UI Semibold"/>
              </a:rPr>
              <a:t>Four trends make this the right moment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5C6B69"/>
                </a:solidFill>
                <a:latin typeface="Segoe UI"/>
              </a:rPr>
              <a:t>The capability is newly feasible, the savings are enormous, and the payer-side authoring task is still open.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03120"/>
            <a:ext cx="5358384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2"/>
            </a:solidFill>
          </a:ln>
          <a:effectLst/>
          <a:effectLst>
            <a:outerShdw blurRad="90000" dist="38000" dir="5400000" rotWithShape="0">
              <a:srgbClr val="0C33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82296" cy="1783080"/>
          </a:xfrm>
          <a:prstGeom prst="rect">
            <a:avLst/>
          </a:prstGeom>
          <a:solidFill>
            <a:srgbClr val="16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350008"/>
            <a:ext cx="48097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C332B"/>
                </a:solidFill>
                <a:latin typeface="Segoe UI Semibold"/>
              </a:rPr>
              <a:t>Structured generation is reliable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852927"/>
            <a:ext cx="48097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C6B69"/>
                </a:solidFill>
                <a:latin typeface="Segoe UI"/>
              </a:rPr>
              <a:t>Models now emit validated, typed output instead of free text — the precondition for safe rule authoring.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2103120"/>
            <a:ext cx="5358384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2"/>
            </a:solidFill>
          </a:ln>
          <a:effectLst/>
          <a:effectLst>
            <a:outerShdw blurRad="90000" dist="38000" dir="5400000" rotWithShape="0">
              <a:srgbClr val="0C33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0488" y="2103120"/>
            <a:ext cx="82296" cy="178308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2350008"/>
            <a:ext cx="48097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C332B"/>
                </a:solidFill>
                <a:latin typeface="Segoe UI Semibold"/>
              </a:rPr>
              <a:t>Hundreds of billions at stake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2852927"/>
            <a:ext cx="48097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C6B69"/>
                </a:solidFill>
                <a:latin typeface="Segoe UI"/>
              </a:rPr>
              <a:t>McKinsey ties generative AI in claim review, edits &amp; recovery to a savings opportunity of that scale.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142231"/>
            <a:ext cx="5358384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2"/>
            </a:solidFill>
          </a:ln>
          <a:effectLst/>
          <a:effectLst>
            <a:outerShdw blurRad="90000" dist="38000" dir="5400000" rotWithShape="0">
              <a:srgbClr val="0C33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142231"/>
            <a:ext cx="82296" cy="178308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389119"/>
            <a:ext cx="48097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C332B"/>
                </a:solidFill>
                <a:latin typeface="Segoe UI Semibold"/>
              </a:rPr>
              <a:t>Production adoption is 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892040"/>
            <a:ext cx="48097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C6B69"/>
                </a:solidFill>
                <a:latin typeface="Segoe UI"/>
              </a:rPr>
              <a:t>Gartner forecasts most organizations running generative-AI models in production within a short horizon.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0488" y="4142231"/>
            <a:ext cx="5358384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2"/>
            </a:solidFill>
          </a:ln>
          <a:effectLst/>
          <a:effectLst>
            <a:outerShdw blurRad="90000" dist="38000" dir="5400000" rotWithShape="0">
              <a:srgbClr val="0C33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0488" y="4142231"/>
            <a:ext cx="82296" cy="1783080"/>
          </a:xfrm>
          <a:prstGeom prst="rect">
            <a:avLst/>
          </a:prstGeom>
          <a:solidFill>
            <a:srgbClr val="D3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3096" y="4389119"/>
            <a:ext cx="48097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C332B"/>
                </a:solidFill>
                <a:latin typeface="Segoe UI Semibold"/>
              </a:rPr>
              <a:t>The payer-side gap is open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3096" y="4892040"/>
            <a:ext cx="48097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C6B69"/>
                </a:solidFill>
                <a:latin typeface="Segoe UI"/>
              </a:rPr>
              <a:t>Early commercial activity clusters on the provider / revenue-cycle side. Authoring the governed rule itself is largely unclaimed.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B69"/>
                </a:solidFill>
                <a:latin typeface="Segoe UI"/>
              </a:rPr>
              <a:t>PolicyForge  ·  Cotiviti Intern Assessment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455664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B69"/>
                </a:solidFill>
                <a:latin typeface="Segoe UI Semibo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3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274320" cy="7772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7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B8860B"/>
                </a:solidFill>
                <a:latin typeface="Segoe UI Semibold"/>
              </a:rPr>
              <a:t>THE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686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Segoe UI Semibold"/>
              </a:rPr>
              <a:t>PolicyForge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C7D8D3"/>
                </a:solidFill>
                <a:latin typeface="Segoe UI"/>
              </a:rPr>
              <a:t>A working demonstrator of the full compile → apply → govern loop, built for this assessment.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40280"/>
            <a:ext cx="10908792" cy="1143000"/>
          </a:xfrm>
          <a:prstGeom prst="roundRect">
            <a:avLst>
              <a:gd name="adj" fmla="val 5000"/>
            </a:avLst>
          </a:prstGeom>
          <a:solidFill>
            <a:srgbClr val="167D6E"/>
          </a:solidFill>
          <a:ln>
            <a:noFill/>
          </a:ln>
          <a:effectLst/>
          <a:effectLst>
            <a:outerShdw blurRad="90000" dist="38000" dir="5400000" rotWithShape="0">
              <a:srgbClr val="0C33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1090879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Segoe UI Semibold"/>
              </a:rPr>
              <a:t>The model authors the rule.  A deterministic engine applies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03320"/>
            <a:ext cx="3511296" cy="2331720"/>
          </a:xfrm>
          <a:prstGeom prst="roundRect">
            <a:avLst>
              <a:gd name="adj" fmla="val 5000"/>
            </a:avLst>
          </a:prstGeom>
          <a:solidFill>
            <a:srgbClr val="104036"/>
          </a:solidFill>
          <a:ln w="15875">
            <a:solidFill>
              <a:srgbClr val="16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59352"/>
            <a:ext cx="30083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B8860B"/>
                </a:solidFill>
                <a:latin typeface="Segoe UI Semibold"/>
              </a:rPr>
              <a:t>Typed, cited 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80559"/>
            <a:ext cx="300837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7D8D3"/>
                </a:solidFill>
                <a:latin typeface="Segoe UI"/>
              </a:rPr>
              <a:t>Every compile returns a logic type, target codes, firing conditions, exceptions, an outcome and a confidence score — each condition tied to the verbatim policy phrase.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3703320"/>
            <a:ext cx="3511296" cy="2331720"/>
          </a:xfrm>
          <a:prstGeom prst="roundRect">
            <a:avLst>
              <a:gd name="adj" fmla="val 5000"/>
            </a:avLst>
          </a:prstGeom>
          <a:solidFill>
            <a:srgbClr val="104036"/>
          </a:solidFill>
          <a:ln w="15875">
            <a:solidFill>
              <a:srgbClr val="16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3959352"/>
            <a:ext cx="30083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B8860B"/>
                </a:solidFill>
                <a:latin typeface="Segoe UI Semibold"/>
              </a:rPr>
              <a:t>Reproducible adjudication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4480559"/>
            <a:ext cx="300837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7D8D3"/>
                </a:solidFill>
                <a:latin typeface="Segoe UI"/>
              </a:rPr>
              <a:t>A plain Python engine returns pay / flag / deny. The same claim always yields the same result once the rule is fixed — auditable by design.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3703320"/>
            <a:ext cx="3511296" cy="2331720"/>
          </a:xfrm>
          <a:prstGeom prst="roundRect">
            <a:avLst>
              <a:gd name="adj" fmla="val 5000"/>
            </a:avLst>
          </a:prstGeom>
          <a:solidFill>
            <a:srgbClr val="104036"/>
          </a:solidFill>
          <a:ln w="15875">
            <a:solidFill>
              <a:srgbClr val="16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3959352"/>
            <a:ext cx="30083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B8860B"/>
                </a:solidFill>
                <a:latin typeface="Segoe UI Semibold"/>
              </a:rPr>
              <a:t>A governance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4480559"/>
            <a:ext cx="300837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7D8D3"/>
                </a:solidFill>
                <a:latin typeface="Segoe UI"/>
              </a:rPr>
              <a:t>Any rule below the confidence threshold, plus boundary cases, routes to a human review queue instead of deciding on its own.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C7D8D3"/>
                </a:solidFill>
                <a:latin typeface="Segoe UI"/>
              </a:rPr>
              <a:t>PolicyForge  ·  Cotiviti Intern Assessment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455664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C7D8D3"/>
                </a:solidFill>
                <a:latin typeface="Segoe UI Semi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21208"/>
            <a:ext cx="274320" cy="77724"/>
          </a:xfrm>
          <a:prstGeom prst="rect">
            <a:avLst/>
          </a:prstGeom>
          <a:solidFill>
            <a:srgbClr val="16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7" y="411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7D6E"/>
                </a:solidFill>
                <a:latin typeface="Segoe UI Semibold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C332B"/>
                </a:solidFill>
                <a:latin typeface="Segoe UI Semibold"/>
              </a:rPr>
              <a:t>One governed loop: compile, apply, govern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2148840" cy="1234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CE4E2"/>
            </a:solidFill>
          </a:ln>
          <a:effectLst/>
          <a:effectLst>
            <a:outerShdw blurRad="90000" dist="38000" dir="5400000" rotWithShape="0">
              <a:srgbClr val="0C33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532888"/>
            <a:ext cx="18928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C332B"/>
                </a:solidFill>
                <a:latin typeface="Segoe UI Semibold"/>
              </a:rPr>
              <a:t>Written policy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3044952"/>
            <a:ext cx="18196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C6B69"/>
                </a:solidFill>
                <a:latin typeface="Segoe UI"/>
              </a:rPr>
              <a:t>prose authored for a human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39" y="2331720"/>
            <a:ext cx="2148840" cy="1234440"/>
          </a:xfrm>
          <a:prstGeom prst="roundRect">
            <a:avLst>
              <a:gd name="adj" fmla="val 7000"/>
            </a:avLst>
          </a:prstGeom>
          <a:solidFill>
            <a:srgbClr val="167D6E"/>
          </a:solidFill>
          <a:ln>
            <a:noFill/>
          </a:ln>
          <a:effectLst/>
          <a:effectLst>
            <a:outerShdw blurRad="90000" dist="38000" dir="5400000" rotWithShape="0">
              <a:srgbClr val="0C33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9856" y="2532888"/>
            <a:ext cx="18928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 Semibold"/>
              </a:rPr>
              <a:t>LLM compiler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3044952"/>
            <a:ext cx="18196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C7D8D3"/>
                </a:solidFill>
                <a:latin typeface="Segoe UI"/>
              </a:rPr>
              <a:t>Groq · drafts a typed rule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2331720"/>
            <a:ext cx="2148840" cy="1234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167D6E"/>
            </a:solidFill>
          </a:ln>
          <a:effectLst/>
          <a:effectLst>
            <a:outerShdw blurRad="90000" dist="38000" dir="5400000" rotWithShape="0">
              <a:srgbClr val="0C33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71616" y="2532888"/>
            <a:ext cx="18928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C332B"/>
                </a:solidFill>
                <a:latin typeface="Segoe UI Semibold"/>
              </a:rPr>
              <a:t>Typed rule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08192" y="3044952"/>
            <a:ext cx="18196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C6B69"/>
                </a:solidFill>
                <a:latin typeface="Segoe UI"/>
              </a:rPr>
              <a:t>conditions · cited clauses · confidence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0" y="2331720"/>
            <a:ext cx="2148840" cy="1234440"/>
          </a:xfrm>
          <a:prstGeom prst="roundRect">
            <a:avLst>
              <a:gd name="adj" fmla="val 7000"/>
            </a:avLst>
          </a:prstGeom>
          <a:solidFill>
            <a:srgbClr val="0C332B"/>
          </a:solidFill>
          <a:ln>
            <a:noFill/>
          </a:ln>
          <a:effectLst/>
          <a:effectLst>
            <a:outerShdw blurRad="90000" dist="38000" dir="5400000" rotWithShape="0">
              <a:srgbClr val="0C33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23376" y="2532888"/>
            <a:ext cx="18928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 Semibold"/>
              </a:rPr>
              <a:t>Deterministic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2" y="3044952"/>
            <a:ext cx="18196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C7D8D3"/>
                </a:solidFill>
                <a:latin typeface="Segoe UI"/>
              </a:rPr>
              <a:t>applies the rule to claims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34639" y="2948939"/>
            <a:ext cx="411481" cy="0"/>
          </a:xfrm>
          <a:prstGeom prst="line">
            <a:avLst/>
          </a:prstGeom>
          <a:ln w="25400">
            <a:solidFill>
              <a:srgbClr val="5C6B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3127247" y="2875787"/>
            <a:ext cx="146304" cy="146304"/>
          </a:xfrm>
          <a:prstGeom prst="triangle">
            <a:avLst/>
          </a:prstGeom>
          <a:solidFill>
            <a:srgbClr val="5C6B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486399" y="2948939"/>
            <a:ext cx="411481" cy="0"/>
          </a:xfrm>
          <a:prstGeom prst="line">
            <a:avLst/>
          </a:prstGeom>
          <a:ln w="25400">
            <a:solidFill>
              <a:srgbClr val="5C6B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5779008" y="2875787"/>
            <a:ext cx="146304" cy="146304"/>
          </a:xfrm>
          <a:prstGeom prst="triangle">
            <a:avLst/>
          </a:prstGeom>
          <a:solidFill>
            <a:srgbClr val="5C6B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138160" y="2948939"/>
            <a:ext cx="411480" cy="0"/>
          </a:xfrm>
          <a:prstGeom prst="line">
            <a:avLst/>
          </a:prstGeom>
          <a:ln w="25400">
            <a:solidFill>
              <a:srgbClr val="5C6B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8430768" y="2875787"/>
            <a:ext cx="146304" cy="146304"/>
          </a:xfrm>
          <a:prstGeom prst="triangle">
            <a:avLst/>
          </a:prstGeom>
          <a:solidFill>
            <a:srgbClr val="5C6B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58200" y="425196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4265676"/>
            <a:ext cx="640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Pay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71432" y="425196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D3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71432" y="4265676"/>
            <a:ext cx="640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Flag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84664" y="425196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9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84664" y="4265676"/>
            <a:ext cx="640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Deny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669780" y="3566160"/>
            <a:ext cx="0" cy="640080"/>
          </a:xfrm>
          <a:prstGeom prst="line">
            <a:avLst/>
          </a:prstGeom>
          <a:ln w="25400">
            <a:solidFill>
              <a:srgbClr val="5C6B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458200" y="458114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C6B69"/>
                </a:solidFill>
                <a:latin typeface="Segoe UI"/>
              </a:rPr>
              <a:t>+ firing condition &amp; cited clause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91839" y="4800600"/>
            <a:ext cx="4800600" cy="1051560"/>
          </a:xfrm>
          <a:prstGeom prst="roundRect">
            <a:avLst>
              <a:gd name="adj" fmla="val 6000"/>
            </a:avLst>
          </a:prstGeom>
          <a:solidFill>
            <a:srgbClr val="B8860B"/>
          </a:solidFill>
          <a:ln>
            <a:noFill/>
          </a:ln>
          <a:effectLst/>
          <a:effectLst>
            <a:outerShdw blurRad="90000" dist="38000" dir="5400000" rotWithShape="0">
              <a:srgbClr val="0C33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0" y="4928616"/>
            <a:ext cx="4434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Governance gate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Segoe UI"/>
              </a:rPr>
              <a:t>confidence below threshold or a boundary case  →  human review queue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018020" y="3566160"/>
            <a:ext cx="0" cy="1188720"/>
          </a:xfrm>
          <a:prstGeom prst="line">
            <a:avLst/>
          </a:prstGeom>
          <a:ln w="28575">
            <a:solidFill>
              <a:srgbClr val="B886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40080" y="5971032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C6B69"/>
                </a:solidFill>
                <a:latin typeface="Segoe UI"/>
              </a:rPr>
              <a:t>Secrets stay server-side · in-memory store swaps to Postgres in one class change · heuristic fallback when no key is set, so nothing is ever faked.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B69"/>
                </a:solidFill>
                <a:latin typeface="Segoe UI"/>
              </a:rPr>
              <a:t>PolicyForge  ·  Cotiviti Intern Assessment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6455664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B69"/>
                </a:solidFill>
                <a:latin typeface="Segoe UI Semi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21208"/>
            <a:ext cx="274320" cy="77724"/>
          </a:xfrm>
          <a:prstGeom prst="rect">
            <a:avLst/>
          </a:prstGeom>
          <a:solidFill>
            <a:srgbClr val="16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7" y="411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7D6E"/>
                </a:solidFill>
                <a:latin typeface="Segoe UI Semibold"/>
              </a:rPr>
              <a:t>FEATURE · 1 OF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C332B"/>
                </a:solidFill>
                <a:latin typeface="Segoe UI Semibold"/>
              </a:rPr>
              <a:t>Dashboard — the operations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5C6B69"/>
                </a:solidFill>
                <a:latin typeface="Segoe UI"/>
              </a:rPr>
              <a:t>Opens like a product already in production: the headline numbers a payment-integrity team watches.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31144" y="2084832"/>
            <a:ext cx="7929405" cy="3831335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4E2"/>
            </a:solidFill>
          </a:ln>
          <a:effectLst/>
          <a:effectLst>
            <a:outerShdw blurRad="90000" dist="38000" dir="5400000" rotWithShape="0">
              <a:srgbClr val="0C33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152" y="2148840"/>
            <a:ext cx="7801389" cy="3703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6025896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C6B69"/>
                </a:solidFill>
                <a:latin typeface="Segoe UI"/>
              </a:rPr>
              <a:t>Findings identified · auto-adjudication rate · active policies · review queue — the compile-apply-govern loop running end to end.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B69"/>
                </a:solidFill>
                <a:latin typeface="Segoe UI"/>
              </a:rPr>
              <a:t>PolicyForge  ·  Cotiviti Intern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455664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B69"/>
                </a:solidFill>
                <a:latin typeface="Segoe UI Semi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21208"/>
            <a:ext cx="274320" cy="77724"/>
          </a:xfrm>
          <a:prstGeom prst="rect">
            <a:avLst/>
          </a:prstGeom>
          <a:solidFill>
            <a:srgbClr val="16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7" y="411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7D6E"/>
                </a:solidFill>
                <a:latin typeface="Segoe UI Semibold"/>
              </a:rPr>
              <a:t>FEATURE · 2 OF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C332B"/>
                </a:solidFill>
                <a:latin typeface="Segoe UI Semibold"/>
              </a:rPr>
              <a:t>Policy Compiler — the heart of the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5C6B69"/>
                </a:solidFill>
                <a:latin typeface="Segoe UI"/>
              </a:rPr>
              <a:t>Pick a policy, hit Compile, and the model returns a typed, executable rule with self-scored confidence.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35426" y="2084832"/>
            <a:ext cx="7920841" cy="3831335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4E2"/>
            </a:solidFill>
          </a:ln>
          <a:effectLst/>
          <a:effectLst>
            <a:outerShdw blurRad="90000" dist="38000" dir="5400000" rotWithShape="0">
              <a:srgbClr val="0C33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mpil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434" y="2148840"/>
            <a:ext cx="7792825" cy="3703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6025896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C6B69"/>
                </a:solidFill>
                <a:latin typeface="Segoe UI"/>
              </a:rPr>
              <a:t>Every condition carries the verbatim phrase that justifies it; the Traceability tab highlights it back in the source 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B69"/>
                </a:solidFill>
                <a:latin typeface="Segoe UI"/>
              </a:rPr>
              <a:t>PolicyForge  ·  Cotiviti Intern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455664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B69"/>
                </a:solidFill>
                <a:latin typeface="Segoe UI Semibol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21208"/>
            <a:ext cx="274320" cy="77724"/>
          </a:xfrm>
          <a:prstGeom prst="rect">
            <a:avLst/>
          </a:prstGeom>
          <a:solidFill>
            <a:srgbClr val="16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7" y="411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7D6E"/>
                </a:solidFill>
                <a:latin typeface="Segoe UI Semibold"/>
              </a:rPr>
              <a:t>FEATURE · 3 OF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C332B"/>
                </a:solidFill>
                <a:latin typeface="Segoe UI Semibold"/>
              </a:rPr>
              <a:t>Claims Adjudication — the deterministic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5C6B69"/>
                </a:solidFill>
                <a:latin typeface="Segoe UI"/>
              </a:rPr>
              <a:t>Run adjudication and every claim is paid, flagged, or denied against the current rules.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35426" y="2084832"/>
            <a:ext cx="7920841" cy="3831335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4E2"/>
            </a:solidFill>
          </a:ln>
          <a:effectLst/>
          <a:effectLst>
            <a:outerShdw blurRad="90000" dist="38000" dir="5400000" rotWithShape="0">
              <a:srgbClr val="0C33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laim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434" y="2148840"/>
            <a:ext cx="7792825" cy="3703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6025896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C6B69"/>
                </a:solidFill>
                <a:latin typeface="Segoe UI"/>
              </a:rPr>
              <a:t>Plain Python decides, so the same claim always produces the same result — open any claim for the firing condition, cited clause and exportable JSON.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B69"/>
                </a:solidFill>
                <a:latin typeface="Segoe UI"/>
              </a:rPr>
              <a:t>PolicyForge  ·  Cotiviti Intern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455664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B69"/>
                </a:solidFill>
                <a:latin typeface="Segoe UI Semi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21208"/>
            <a:ext cx="274320" cy="77724"/>
          </a:xfrm>
          <a:prstGeom prst="rect">
            <a:avLst/>
          </a:prstGeom>
          <a:solidFill>
            <a:srgbClr val="16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7" y="411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7D6E"/>
                </a:solidFill>
                <a:latin typeface="Segoe UI Semibold"/>
              </a:rPr>
              <a:t>FEATURE · 4 OF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C332B"/>
                </a:solidFill>
                <a:latin typeface="Segoe UI Semibold"/>
              </a:rPr>
              <a:t>Review Queue — the governance gate, made visible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5C6B69"/>
                </a:solidFill>
                <a:latin typeface="Segoe UI"/>
              </a:rPr>
              <a:t>Boundary cases and any finding from a sub-threshold rule land here instead of adjudicating on their own.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2639" y="2084832"/>
            <a:ext cx="10186416" cy="298760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4E2"/>
            </a:solidFill>
          </a:ln>
          <a:effectLst/>
          <a:effectLst>
            <a:outerShdw blurRad="90000" dist="38000" dir="5400000" rotWithShape="0">
              <a:srgbClr val="0C33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view-que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2148840"/>
            <a:ext cx="10058400" cy="285958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5182162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C6B69"/>
                </a:solidFill>
                <a:latin typeface="Segoe UI"/>
              </a:rPr>
              <a:t>Two distinct routes to review: an age-45 boundary case, and a real edit whose rule confidence sits below the gate. The analyst approves or upholds.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B69"/>
                </a:solidFill>
                <a:latin typeface="Segoe UI"/>
              </a:rPr>
              <a:t>PolicyForge  ·  Cotiviti Intern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455664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B69"/>
                </a:solidFill>
                <a:latin typeface="Segoe UI Semi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21208"/>
            <a:ext cx="274320" cy="77724"/>
          </a:xfrm>
          <a:prstGeom prst="rect">
            <a:avLst/>
          </a:prstGeom>
          <a:solidFill>
            <a:srgbClr val="16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7" y="411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7D6E"/>
                </a:solidFill>
                <a:latin typeface="Segoe UI Semibold"/>
              </a:rPr>
              <a:t>FEATURE · 5 OF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C332B"/>
                </a:solidFill>
                <a:latin typeface="Segoe UI Semibold"/>
              </a:rPr>
              <a:t>Policy Change Diff — maintenance made literal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5C6B69"/>
                </a:solidFill>
                <a:latin typeface="Segoe UI"/>
              </a:rPr>
              <a:t>Paste a revised policy; the system summarizes what materially changed, recompiles, and shows a clause-by-clause before / after.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18242" y="2084832"/>
            <a:ext cx="7955209" cy="3831335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4E2"/>
            </a:solidFill>
          </a:ln>
          <a:effectLst/>
          <a:effectLst>
            <a:outerShdw blurRad="90000" dist="38000" dir="5400000" rotWithShape="0">
              <a:srgbClr val="0C33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olicy-dif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250" y="2148840"/>
            <a:ext cx="7827193" cy="3703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6025896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C6B69"/>
                </a:solidFill>
                <a:latin typeface="Segoe UI"/>
              </a:rPr>
              <a:t>Tighten a vague policy and watch its confidence cross the gate — its findings stop routing to review and begin adjudicating automatically.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B69"/>
                </a:solidFill>
                <a:latin typeface="Segoe UI"/>
              </a:rPr>
              <a:t>PolicyForge  ·  Cotiviti Intern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455664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B69"/>
                </a:solidFill>
                <a:latin typeface="Segoe UI Semi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21208"/>
            <a:ext cx="274320" cy="77724"/>
          </a:xfrm>
          <a:prstGeom prst="rect">
            <a:avLst/>
          </a:prstGeom>
          <a:solidFill>
            <a:srgbClr val="16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7" y="411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7D6E"/>
                </a:solidFill>
                <a:latin typeface="Segoe UI Semibold"/>
              </a:rPr>
              <a:t>VALUE TO COTIVITI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C332B"/>
                </a:solidFill>
                <a:latin typeface="Segoe UI Semibold"/>
              </a:rPr>
              <a:t>How policy compilation pays 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5C6B69"/>
                </a:solidFill>
                <a:latin typeface="Segoe UI"/>
              </a:rPr>
              <a:t>Concrete gains that reinforce the accuracy story Cotiviti already tells.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5358384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2"/>
            </a:solidFill>
          </a:ln>
          <a:effectLst/>
          <a:effectLst>
            <a:outerShdw blurRad="90000" dist="38000" dir="5400000" rotWithShape="0">
              <a:srgbClr val="0C33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5358384" cy="8229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386584"/>
            <a:ext cx="480974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E7D5B"/>
                </a:solidFill>
                <a:latin typeface="Segoe UI Semibold"/>
              </a:rPr>
              <a:t>Speed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862072"/>
            <a:ext cx="48097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5C6B69"/>
                </a:solidFill>
                <a:latin typeface="Segoe UI"/>
              </a:rPr>
              <a:t>Shrinks policy-to-edit from days to minutes, narrowing the window in which incorrect payments occur.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2148840"/>
            <a:ext cx="5358384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2"/>
            </a:solidFill>
          </a:ln>
          <a:effectLst/>
          <a:effectLst>
            <a:outerShdw blurRad="90000" dist="38000" dir="5400000" rotWithShape="0">
              <a:srgbClr val="0C33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0488" y="2148840"/>
            <a:ext cx="5358384" cy="8229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2386584"/>
            <a:ext cx="480974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E7D5B"/>
                </a:solidFill>
                <a:latin typeface="Segoe UI Semibold"/>
              </a:rPr>
              <a:t>Consistency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2862072"/>
            <a:ext cx="48097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5C6B69"/>
                </a:solidFill>
                <a:latin typeface="Segoe UI"/>
              </a:rPr>
              <a:t>The same policy produces the same draft rule regardless of which analyst handles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151376"/>
            <a:ext cx="5358384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2"/>
            </a:solidFill>
          </a:ln>
          <a:effectLst/>
          <a:effectLst>
            <a:outerShdw blurRad="90000" dist="38000" dir="5400000" rotWithShape="0">
              <a:srgbClr val="0C33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151376"/>
            <a:ext cx="5358384" cy="8229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389120"/>
            <a:ext cx="480974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E7D5B"/>
                </a:solidFill>
                <a:latin typeface="Segoe UI Semibold"/>
              </a:rPr>
              <a:t>Auditability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864608"/>
            <a:ext cx="48097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5C6B69"/>
                </a:solidFill>
                <a:latin typeface="Segoe UI"/>
              </a:rPr>
              <a:t>A citation and confidence score on every edit strengthens the audit trail and hardens the 99.90% accuracy claim.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0488" y="4151376"/>
            <a:ext cx="5358384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2"/>
            </a:solidFill>
          </a:ln>
          <a:effectLst/>
          <a:effectLst>
            <a:outerShdw blurRad="90000" dist="38000" dir="5400000" rotWithShape="0">
              <a:srgbClr val="0C33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0488" y="4151376"/>
            <a:ext cx="5358384" cy="8229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3096" y="4389120"/>
            <a:ext cx="480974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E7D5B"/>
                </a:solidFill>
                <a:latin typeface="Segoe UI Semibold"/>
              </a:rPr>
              <a:t>Less abrasion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3096" y="4864608"/>
            <a:ext cx="48097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5C6B69"/>
                </a:solidFill>
                <a:latin typeface="Segoe UI"/>
              </a:rPr>
              <a:t>A transparent rule with a plain-language reason is far easier to defend than an opaque denial.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B69"/>
                </a:solidFill>
                <a:latin typeface="Segoe UI"/>
              </a:rPr>
              <a:t>PolicyForge  ·  Cotiviti Intern Assessment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455664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B69"/>
                </a:solidFill>
                <a:latin typeface="Segoe UI Semi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21208"/>
            <a:ext cx="274320" cy="77724"/>
          </a:xfrm>
          <a:prstGeom prst="rect">
            <a:avLst/>
          </a:prstGeom>
          <a:solidFill>
            <a:srgbClr val="16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7" y="411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7D6E"/>
                </a:solidFill>
                <a:latin typeface="Segoe UI Semibold"/>
              </a:rPr>
              <a:t>RISK &amp;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C332B"/>
                </a:solidFill>
                <a:latin typeface="Segoe UI Semibold"/>
              </a:rPr>
              <a:t>Every threat is met by the same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5C6B69"/>
                </a:solidFill>
                <a:latin typeface="Segoe UI"/>
              </a:rPr>
              <a:t>Governed-by-design is not a feature bolted on — it is the reason the approach is safe to ship.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40280"/>
            <a:ext cx="5074920" cy="877824"/>
          </a:xfrm>
          <a:prstGeom prst="roundRect">
            <a:avLst>
              <a:gd name="adj" fmla="val 7000"/>
            </a:avLst>
          </a:prstGeom>
          <a:solidFill>
            <a:srgbClr val="FBECEC"/>
          </a:solidFill>
          <a:ln w="12700">
            <a:solidFill>
              <a:srgbClr val="DC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240280"/>
            <a:ext cx="82296" cy="877824"/>
          </a:xfrm>
          <a:prstGeom prst="rect">
            <a:avLst/>
          </a:prstGeom>
          <a:solidFill>
            <a:srgbClr val="9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40280"/>
            <a:ext cx="475488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9B2C2C"/>
                </a:solidFill>
                <a:latin typeface="Segoe UI Semibold"/>
              </a:rPr>
              <a:t>Plausible-but-wrong rule</a:t>
            </a:r>
          </a:p>
        </p:txBody>
      </p:sp>
      <p:sp>
        <p:nvSpPr>
          <p:cNvPr id="11" name="Chevron 10"/>
          <p:cNvSpPr/>
          <p:nvPr/>
        </p:nvSpPr>
        <p:spPr>
          <a:xfrm>
            <a:off x="5870448" y="2551176"/>
            <a:ext cx="274320" cy="256032"/>
          </a:xfrm>
          <a:prstGeom prst="chevron">
            <a:avLst/>
          </a:prstGeom>
          <a:solidFill>
            <a:srgbClr val="16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240280"/>
            <a:ext cx="5148072" cy="877824"/>
          </a:xfrm>
          <a:prstGeom prst="roundRect">
            <a:avLst>
              <a:gd name="adj" fmla="val 7000"/>
            </a:avLst>
          </a:prstGeom>
          <a:solidFill>
            <a:srgbClr val="E3F0ED"/>
          </a:solidFill>
          <a:ln w="12700">
            <a:solidFill>
              <a:srgbClr val="DC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2240280"/>
            <a:ext cx="82296" cy="87782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240280"/>
            <a:ext cx="480060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B2B2A"/>
                </a:solidFill>
                <a:latin typeface="Segoe UI"/>
              </a:rPr>
              <a:t>Human-in-the-loop confidence gate — low-confidence drafts never adjudicate alone.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27832"/>
            <a:ext cx="5074920" cy="877824"/>
          </a:xfrm>
          <a:prstGeom prst="roundRect">
            <a:avLst>
              <a:gd name="adj" fmla="val 7000"/>
            </a:avLst>
          </a:prstGeom>
          <a:solidFill>
            <a:srgbClr val="FBECEC"/>
          </a:solidFill>
          <a:ln w="12700">
            <a:solidFill>
              <a:srgbClr val="DC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227832"/>
            <a:ext cx="82296" cy="877824"/>
          </a:xfrm>
          <a:prstGeom prst="rect">
            <a:avLst/>
          </a:prstGeom>
          <a:solidFill>
            <a:srgbClr val="9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227832"/>
            <a:ext cx="475488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9B2C2C"/>
                </a:solidFill>
                <a:latin typeface="Segoe UI Semibold"/>
              </a:rPr>
              <a:t>Bias inherited from source</a:t>
            </a:r>
          </a:p>
        </p:txBody>
      </p:sp>
      <p:sp>
        <p:nvSpPr>
          <p:cNvPr id="18" name="Chevron 17"/>
          <p:cNvSpPr/>
          <p:nvPr/>
        </p:nvSpPr>
        <p:spPr>
          <a:xfrm>
            <a:off x="5870448" y="3538727"/>
            <a:ext cx="274320" cy="256032"/>
          </a:xfrm>
          <a:prstGeom prst="chevron">
            <a:avLst/>
          </a:prstGeom>
          <a:solidFill>
            <a:srgbClr val="16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3227832"/>
            <a:ext cx="5148072" cy="877824"/>
          </a:xfrm>
          <a:prstGeom prst="roundRect">
            <a:avLst>
              <a:gd name="adj" fmla="val 7000"/>
            </a:avLst>
          </a:prstGeom>
          <a:solidFill>
            <a:srgbClr val="E3F0ED"/>
          </a:solidFill>
          <a:ln w="12700">
            <a:solidFill>
              <a:srgbClr val="DC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3227832"/>
            <a:ext cx="82296" cy="87782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3227832"/>
            <a:ext cx="480060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B2B2A"/>
                </a:solidFill>
                <a:latin typeface="Segoe UI"/>
              </a:rPr>
              <a:t>Verbatim citation on every condition, so each rule is checkable against its source.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215384"/>
            <a:ext cx="5074920" cy="877824"/>
          </a:xfrm>
          <a:prstGeom prst="roundRect">
            <a:avLst>
              <a:gd name="adj" fmla="val 7000"/>
            </a:avLst>
          </a:prstGeom>
          <a:solidFill>
            <a:srgbClr val="FBECEC"/>
          </a:solidFill>
          <a:ln w="12700">
            <a:solidFill>
              <a:srgbClr val="DC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215384"/>
            <a:ext cx="82296" cy="877824"/>
          </a:xfrm>
          <a:prstGeom prst="rect">
            <a:avLst/>
          </a:prstGeom>
          <a:solidFill>
            <a:srgbClr val="9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215384"/>
            <a:ext cx="475488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9B2C2C"/>
                </a:solidFill>
                <a:latin typeface="Segoe UI Semibold"/>
              </a:rPr>
              <a:t>Regulatory exposure</a:t>
            </a:r>
          </a:p>
        </p:txBody>
      </p:sp>
      <p:sp>
        <p:nvSpPr>
          <p:cNvPr id="25" name="Chevron 24"/>
          <p:cNvSpPr/>
          <p:nvPr/>
        </p:nvSpPr>
        <p:spPr>
          <a:xfrm>
            <a:off x="5870448" y="4526280"/>
            <a:ext cx="274320" cy="256032"/>
          </a:xfrm>
          <a:prstGeom prst="chevron">
            <a:avLst/>
          </a:prstGeom>
          <a:solidFill>
            <a:srgbClr val="16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0" y="4215384"/>
            <a:ext cx="5148072" cy="877824"/>
          </a:xfrm>
          <a:prstGeom prst="roundRect">
            <a:avLst>
              <a:gd name="adj" fmla="val 7000"/>
            </a:avLst>
          </a:prstGeom>
          <a:solidFill>
            <a:srgbClr val="E3F0ED"/>
          </a:solidFill>
          <a:ln w="12700">
            <a:solidFill>
              <a:srgbClr val="DC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4215384"/>
            <a:ext cx="82296" cy="87782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4215384"/>
            <a:ext cx="480060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B2B2A"/>
                </a:solidFill>
                <a:latin typeface="Segoe UI"/>
              </a:rPr>
              <a:t>Deterministic engine makes behavior reproducible and independently auditable.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202936"/>
            <a:ext cx="5074920" cy="877824"/>
          </a:xfrm>
          <a:prstGeom prst="roundRect">
            <a:avLst>
              <a:gd name="adj" fmla="val 7000"/>
            </a:avLst>
          </a:prstGeom>
          <a:solidFill>
            <a:srgbClr val="FBECEC"/>
          </a:solidFill>
          <a:ln w="12700">
            <a:solidFill>
              <a:srgbClr val="DC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5202936"/>
            <a:ext cx="82296" cy="877824"/>
          </a:xfrm>
          <a:prstGeom prst="rect">
            <a:avLst/>
          </a:prstGeom>
          <a:solidFill>
            <a:srgbClr val="9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202936"/>
            <a:ext cx="475488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9B2C2C"/>
                </a:solidFill>
                <a:latin typeface="Segoe UI Semibold"/>
              </a:rPr>
              <a:t>“Commoditizes the rule library”</a:t>
            </a:r>
          </a:p>
        </p:txBody>
      </p:sp>
      <p:sp>
        <p:nvSpPr>
          <p:cNvPr id="32" name="Chevron 31"/>
          <p:cNvSpPr/>
          <p:nvPr/>
        </p:nvSpPr>
        <p:spPr>
          <a:xfrm>
            <a:off x="5870448" y="5513832"/>
            <a:ext cx="274320" cy="256032"/>
          </a:xfrm>
          <a:prstGeom prst="chevron">
            <a:avLst/>
          </a:prstGeom>
          <a:solidFill>
            <a:srgbClr val="16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0" y="5202936"/>
            <a:ext cx="5148072" cy="877824"/>
          </a:xfrm>
          <a:prstGeom prst="roundRect">
            <a:avLst>
              <a:gd name="adj" fmla="val 7000"/>
            </a:avLst>
          </a:prstGeom>
          <a:solidFill>
            <a:srgbClr val="E3F0ED"/>
          </a:solidFill>
          <a:ln w="12700">
            <a:solidFill>
              <a:srgbClr val="DC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0" y="5202936"/>
            <a:ext cx="82296" cy="87782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5202936"/>
            <a:ext cx="480060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B2B2A"/>
                </a:solidFill>
                <a:latin typeface="Segoe UI"/>
              </a:rPr>
              <a:t>It defends the asset: expert judgment becomes faster and better-documented, not replaced.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B69"/>
                </a:solidFill>
                <a:latin typeface="Segoe UI"/>
              </a:rPr>
              <a:t>PolicyForge  ·  Cotiviti Intern Assessment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6455664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B69"/>
                </a:solidFill>
                <a:latin typeface="Segoe UI Semibol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21208"/>
            <a:ext cx="274320" cy="77724"/>
          </a:xfrm>
          <a:prstGeom prst="rect">
            <a:avLst/>
          </a:prstGeom>
          <a:solidFill>
            <a:srgbClr val="16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7" y="411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7D6E"/>
                </a:solidFill>
                <a:latin typeface="Segoe UI Semibold"/>
              </a:rPr>
              <a:t>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C332B"/>
                </a:solidFill>
                <a:latin typeface="Segoe UI Semibold"/>
              </a:rPr>
              <a:t>Three strategic options for Cotiviti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5C6B69"/>
                </a:solidFill>
                <a:latin typeface="Segoe UI"/>
              </a:rPr>
              <a:t>In priority order — pursue Option 1 as a supervised copilot, add Option 2 as its natural extension.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3511296" cy="3520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4E2"/>
            </a:solidFill>
          </a:ln>
          <a:effectLst/>
          <a:effectLst>
            <a:outerShdw blurRad="90000" dist="38000" dir="5400000" rotWithShape="0">
              <a:srgbClr val="0C33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94560"/>
            <a:ext cx="3511296" cy="566928"/>
          </a:xfrm>
          <a:prstGeom prst="rect">
            <a:avLst/>
          </a:prstGeom>
          <a:solidFill>
            <a:srgbClr val="16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286000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Segoe UI Semibold"/>
              </a:rP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71216" y="2340864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0C3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71216" y="2354580"/>
            <a:ext cx="10515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PRIMARY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944368"/>
            <a:ext cx="30540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0C332B"/>
                </a:solidFill>
                <a:latin typeface="Segoe UI Semibold"/>
              </a:rPr>
              <a:t>Governed authoring assistant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584448"/>
            <a:ext cx="30540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7D6E"/>
                </a:solidFill>
                <a:latin typeface="Segoe UI Semibold"/>
              </a:rPr>
              <a:t>Inside Payment Policy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977639"/>
            <a:ext cx="3054096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C6B69"/>
                </a:solidFill>
                <a:latin typeface="Segoe UI"/>
              </a:rPr>
              <a:t>A copilot that drafts the executable rule from policy text, cites every clause, and routes low-confidence drafts to a certified expert.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4256" y="2194560"/>
            <a:ext cx="3511296" cy="3520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4E2"/>
            </a:solidFill>
          </a:ln>
          <a:effectLst/>
          <a:effectLst>
            <a:outerShdw blurRad="90000" dist="38000" dir="5400000" rotWithShape="0">
              <a:srgbClr val="0C33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4256" y="2194560"/>
            <a:ext cx="3511296" cy="56692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0288" y="2286000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Segoe UI Semibold"/>
              </a:rPr>
              <a:t>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65392" y="2340864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0C3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2354580"/>
            <a:ext cx="10515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EXTEND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2944368"/>
            <a:ext cx="30540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0C332B"/>
                </a:solidFill>
                <a:latin typeface="Segoe UI Semibold"/>
              </a:rPr>
              <a:t>Policy change intelligence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3584448"/>
            <a:ext cx="30540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B8860B"/>
                </a:solidFill>
                <a:latin typeface="Segoe UI Semibold"/>
              </a:rPr>
              <a:t>Monitor · summarize · recompile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3977639"/>
            <a:ext cx="3054096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C6B69"/>
                </a:solidFill>
                <a:latin typeface="Segoe UI"/>
              </a:rPr>
              <a:t>Watch policy updates, summarize what materially changed, recompile only the affected rule, and present a clause-by-clause diff.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28431" y="2194560"/>
            <a:ext cx="3511296" cy="3520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4E2"/>
            </a:solidFill>
          </a:ln>
          <a:effectLst/>
          <a:effectLst>
            <a:outerShdw blurRad="90000" dist="38000" dir="5400000" rotWithShape="0">
              <a:srgbClr val="0C33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28431" y="2194560"/>
            <a:ext cx="3511296" cy="566928"/>
          </a:xfrm>
          <a:prstGeom prst="rect">
            <a:avLst/>
          </a:prstGeom>
          <a:solidFill>
            <a:srgbClr val="5C6B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3" y="2286000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Segoe UI Semibold"/>
              </a:rPr>
              <a:t>03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59567" y="2340864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0C3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59567" y="2354580"/>
            <a:ext cx="10515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HARDEN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4463" y="2944368"/>
            <a:ext cx="30540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0C332B"/>
                </a:solidFill>
                <a:latin typeface="Segoe UI Semibold"/>
              </a:rPr>
              <a:t>Traceability &amp; audit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4463" y="3584448"/>
            <a:ext cx="30540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5C6B69"/>
                </a:solidFill>
                <a:latin typeface="Segoe UI Semibold"/>
              </a:rPr>
              <a:t>Across the whole portfolio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4463" y="3977639"/>
            <a:ext cx="3054096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C6B69"/>
                </a:solidFill>
                <a:latin typeface="Segoe UI"/>
              </a:rPr>
              <a:t>Attach a citation and confidence score to every edit, however authored, to harden the responsible-AI posture and make accuracy checkable.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897880"/>
            <a:ext cx="10908792" cy="566928"/>
          </a:xfrm>
          <a:prstGeom prst="roundRect">
            <a:avLst>
              <a:gd name="adj" fmla="val 10000"/>
            </a:avLst>
          </a:prstGeom>
          <a:solidFill>
            <a:srgbClr val="0C3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087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B8860B"/>
                </a:solidFill>
                <a:latin typeface="Segoe UI Semibold"/>
              </a:rPr>
              <a:t>Recommended path:  </a:t>
            </a:r>
            <a:r>
              <a:rPr sz="1300" b="0">
                <a:solidFill>
                  <a:srgbClr val="FFFFFF"/>
                </a:solidFill>
                <a:latin typeface="Segoe UI"/>
              </a:rPr>
              <a:t>supervised copilot (1) + change intelligence (2), with the deterministic engine kept as the system of record.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B69"/>
                </a:solidFill>
                <a:latin typeface="Segoe UI"/>
              </a:rPr>
              <a:t>PolicyForge  ·  Cotiviti Intern Assessment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6455664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B69"/>
                </a:solidFill>
                <a:latin typeface="Segoe UI Semibol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21208"/>
            <a:ext cx="274320" cy="77724"/>
          </a:xfrm>
          <a:prstGeom prst="rect">
            <a:avLst/>
          </a:prstGeom>
          <a:solidFill>
            <a:srgbClr val="16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7" y="411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7D6E"/>
                </a:solidFill>
                <a:latin typeface="Segoe UI Semibold"/>
              </a:rPr>
              <a:t>THE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C332B"/>
                </a:solidFill>
                <a:latin typeface="Segoe UI Semibold"/>
              </a:rPr>
              <a:t>POC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5C6B69"/>
                </a:solidFill>
                <a:latin typeface="Segoe UI"/>
              </a:rPr>
              <a:t>A real enterprise application, not a sidebar demo — built to be cloned and run.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3511296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2"/>
            </a:solidFill>
          </a:ln>
          <a:effectLst/>
          <a:effectLst>
            <a:outerShdw blurRad="90000" dist="38000" dir="5400000" rotWithShape="0">
              <a:srgbClr val="0C33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3511296" cy="566928"/>
          </a:xfrm>
          <a:prstGeom prst="rect">
            <a:avLst/>
          </a:prstGeom>
          <a:solidFill>
            <a:srgbClr val="0C3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35112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 Semibold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3008376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67D6E"/>
                </a:solidFill>
                <a:latin typeface="Segoe UI Semibold"/>
              </a:rPr>
              <a:t>•  </a:t>
            </a:r>
            <a:r>
              <a:rPr sz="1300" b="0">
                <a:solidFill>
                  <a:srgbClr val="1B2B2A"/>
                </a:solidFill>
                <a:latin typeface="Segoe UI"/>
              </a:rPr>
              <a:t>React 18 + TypeScript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67D6E"/>
                </a:solidFill>
                <a:latin typeface="Segoe UI Semibold"/>
              </a:rPr>
              <a:t>•  </a:t>
            </a:r>
            <a:r>
              <a:rPr sz="1300" b="0">
                <a:solidFill>
                  <a:srgbClr val="1B2B2A"/>
                </a:solidFill>
                <a:latin typeface="Segoe UI"/>
              </a:rPr>
              <a:t>Vite 7 build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67D6E"/>
                </a:solidFill>
                <a:latin typeface="Segoe UI Semibold"/>
              </a:rPr>
              <a:t>•  </a:t>
            </a:r>
            <a:r>
              <a:rPr sz="1300" b="0">
                <a:solidFill>
                  <a:srgbClr val="1B2B2A"/>
                </a:solidFill>
                <a:latin typeface="Segoe UI"/>
              </a:rPr>
              <a:t>recharts + lucide-react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67D6E"/>
                </a:solidFill>
                <a:latin typeface="Segoe UI Semibold"/>
              </a:rPr>
              <a:t>•  </a:t>
            </a:r>
            <a:r>
              <a:rPr sz="1300" b="0">
                <a:solidFill>
                  <a:srgbClr val="1B2B2A"/>
                </a:solidFill>
                <a:latin typeface="Segoe UI"/>
              </a:rPr>
              <a:t>Cotiviti-family teal / ink, IBM Plex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2148840"/>
            <a:ext cx="3511296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2"/>
            </a:solidFill>
          </a:ln>
          <a:effectLst/>
          <a:effectLst>
            <a:outerShdw blurRad="90000" dist="38000" dir="5400000" rotWithShape="0">
              <a:srgbClr val="0C33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4256" y="2148840"/>
            <a:ext cx="3511296" cy="566928"/>
          </a:xfrm>
          <a:prstGeom prst="rect">
            <a:avLst/>
          </a:prstGeom>
          <a:solidFill>
            <a:srgbClr val="0C3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34256" y="2240280"/>
            <a:ext cx="35112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 Semibold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2926080"/>
            <a:ext cx="3008376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67D6E"/>
                </a:solidFill>
                <a:latin typeface="Segoe UI Semibold"/>
              </a:rPr>
              <a:t>•  </a:t>
            </a:r>
            <a:r>
              <a:rPr sz="1300" b="0">
                <a:solidFill>
                  <a:srgbClr val="1B2B2A"/>
                </a:solidFill>
                <a:latin typeface="Segoe UI"/>
              </a:rPr>
              <a:t>FastAPI (Python 3.11–3.13)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67D6E"/>
                </a:solidFill>
                <a:latin typeface="Segoe UI Semibold"/>
              </a:rPr>
              <a:t>•  </a:t>
            </a:r>
            <a:r>
              <a:rPr sz="1300" b="0">
                <a:solidFill>
                  <a:srgbClr val="1B2B2A"/>
                </a:solidFill>
                <a:latin typeface="Segoe UI"/>
              </a:rPr>
              <a:t>Typed Pydantic rule schema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67D6E"/>
                </a:solidFill>
                <a:latin typeface="Segoe UI Semibold"/>
              </a:rPr>
              <a:t>•  </a:t>
            </a:r>
            <a:r>
              <a:rPr sz="1300" b="0">
                <a:solidFill>
                  <a:srgbClr val="1B2B2A"/>
                </a:solidFill>
                <a:latin typeface="Segoe UI"/>
              </a:rPr>
              <a:t>Deterministic adjudication engine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67D6E"/>
                </a:solidFill>
                <a:latin typeface="Segoe UI Semibold"/>
              </a:rPr>
              <a:t>•  </a:t>
            </a:r>
            <a:r>
              <a:rPr sz="1300" b="0">
                <a:solidFill>
                  <a:srgbClr val="1B2B2A"/>
                </a:solidFill>
                <a:latin typeface="Segoe UI"/>
              </a:rPr>
              <a:t>In-memory store → Postgres-ready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2148840"/>
            <a:ext cx="3511296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2"/>
            </a:solidFill>
          </a:ln>
          <a:effectLst/>
          <a:effectLst>
            <a:outerShdw blurRad="90000" dist="38000" dir="5400000" rotWithShape="0">
              <a:srgbClr val="0C33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1" y="2148840"/>
            <a:ext cx="3511296" cy="566928"/>
          </a:xfrm>
          <a:prstGeom prst="rect">
            <a:avLst/>
          </a:prstGeom>
          <a:solidFill>
            <a:srgbClr val="0C3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1" y="2240280"/>
            <a:ext cx="35112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 Semibold"/>
              </a:rPr>
              <a:t>Compiler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926080"/>
            <a:ext cx="3008376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67D6E"/>
                </a:solidFill>
                <a:latin typeface="Segoe UI Semibold"/>
              </a:rPr>
              <a:t>•  </a:t>
            </a:r>
            <a:r>
              <a:rPr sz="1300" b="0">
                <a:solidFill>
                  <a:srgbClr val="1B2B2A"/>
                </a:solidFill>
                <a:latin typeface="Segoe UI"/>
              </a:rPr>
              <a:t>Groq llama-3.3-70b-versatile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67D6E"/>
                </a:solidFill>
                <a:latin typeface="Segoe UI Semibold"/>
              </a:rPr>
              <a:t>•  </a:t>
            </a:r>
            <a:r>
              <a:rPr sz="1300" b="0">
                <a:solidFill>
                  <a:srgbClr val="1B2B2A"/>
                </a:solidFill>
                <a:latin typeface="Segoe UI"/>
              </a:rPr>
              <a:t>Schema-validated structured output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67D6E"/>
                </a:solidFill>
                <a:latin typeface="Segoe UI Semibold"/>
              </a:rPr>
              <a:t>•  </a:t>
            </a:r>
            <a:r>
              <a:rPr sz="1300" b="0">
                <a:solidFill>
                  <a:srgbClr val="1B2B2A"/>
                </a:solidFill>
                <a:latin typeface="Segoe UI"/>
              </a:rPr>
              <a:t>Transparent heuristic fallback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67D6E"/>
                </a:solidFill>
                <a:latin typeface="Segoe UI Semibold"/>
              </a:rPr>
              <a:t>•  </a:t>
            </a:r>
            <a:r>
              <a:rPr sz="1300" b="0">
                <a:solidFill>
                  <a:srgbClr val="1B2B2A"/>
                </a:solidFill>
                <a:latin typeface="Segoe UI"/>
              </a:rPr>
              <a:t>Mode shown live in the UI badge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212080"/>
            <a:ext cx="10908792" cy="1005840"/>
          </a:xfrm>
          <a:prstGeom prst="roundRect">
            <a:avLst>
              <a:gd name="adj" fmla="val 5000"/>
            </a:avLst>
          </a:prstGeom>
          <a:solidFill>
            <a:srgbClr val="E3F0ED"/>
          </a:solidFill>
          <a:ln w="12700">
            <a:solidFill>
              <a:srgbClr val="DC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358384"/>
            <a:ext cx="10332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67D6E"/>
                </a:solidFill>
                <a:latin typeface="Segoe UI Semibold"/>
              </a:rPr>
              <a:t>Deployed live</a:t>
            </a:r>
            <a:r>
              <a:rPr sz="1300" b="0">
                <a:solidFill>
                  <a:srgbClr val="1B2B2A"/>
                </a:solidFill>
                <a:latin typeface="Segoe UI"/>
              </a:rPr>
              <a:t>  —  frontend on Vercel, backend on Render, compiled live with Groq. 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5C6B69"/>
                </a:solidFill>
                <a:latin typeface="Segoe UI"/>
              </a:rPr>
              <a:t>Runs locally with zero config (heuristic mode) or one Docker command; six seed policies across five logic types and twenty engineered claims.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6B69"/>
                </a:solidFill>
                <a:latin typeface="Segoe UI"/>
              </a:rPr>
              <a:t>PolicyForge  ·  Cotiviti Intern Assessment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455664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C6B69"/>
                </a:solidFill>
                <a:latin typeface="Segoe UI Semibol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3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566928"/>
            <a:ext cx="274320" cy="7772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7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B8860B"/>
                </a:solidFill>
                <a:latin typeface="Segoe UI Semibold"/>
              </a:rPr>
              <a:t>IN CLOSING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1440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A governed compiler that cites its evidence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and keeps an expert accountable.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>
                <a:solidFill>
                  <a:srgbClr val="C7D8D3"/>
                </a:solidFill>
                <a:latin typeface="Segoe UI"/>
              </a:rPr>
              <a:t>Applying rules to claims is the mature part of payment integrity. Authoring those rules from written policy is the slow, costly part — and that is where generative AI can help today without surrendering control. PolicyForge shows the loop end to end.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20440"/>
            <a:ext cx="3511296" cy="777240"/>
          </a:xfrm>
          <a:prstGeom prst="roundRect">
            <a:avLst>
              <a:gd name="adj" fmla="val 8000"/>
            </a:avLst>
          </a:prstGeom>
          <a:solidFill>
            <a:srgbClr val="104036"/>
          </a:solidFill>
          <a:ln w="15875">
            <a:solidFill>
              <a:srgbClr val="16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3520440"/>
            <a:ext cx="3145536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 Semibold"/>
              </a:rPr>
              <a:t>Author with AI, apply with 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3520440"/>
            <a:ext cx="3511296" cy="777240"/>
          </a:xfrm>
          <a:prstGeom prst="roundRect">
            <a:avLst>
              <a:gd name="adj" fmla="val 8000"/>
            </a:avLst>
          </a:prstGeom>
          <a:solidFill>
            <a:srgbClr val="104036"/>
          </a:solidFill>
          <a:ln w="15875">
            <a:solidFill>
              <a:srgbClr val="16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3520440"/>
            <a:ext cx="3145536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 Semibold"/>
              </a:rPr>
              <a:t>Cite every clause, gate on confidence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1" y="3520440"/>
            <a:ext cx="3511296" cy="777240"/>
          </a:xfrm>
          <a:prstGeom prst="roundRect">
            <a:avLst>
              <a:gd name="adj" fmla="val 8000"/>
            </a:avLst>
          </a:prstGeom>
          <a:solidFill>
            <a:srgbClr val="104036"/>
          </a:solidFill>
          <a:ln w="15875">
            <a:solidFill>
              <a:srgbClr val="16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1" y="3520440"/>
            <a:ext cx="3145536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 Semibold"/>
              </a:rPr>
              <a:t>A measured, commercially relevant bet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177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8860B"/>
                </a:solidFill>
                <a:latin typeface="Segoe UI Semibold"/>
              </a:rPr>
              <a:t>SELECTED 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3776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C7D8D3"/>
                </a:solidFill>
                <a:latin typeface="Segoe UI"/>
              </a:rPr>
              <a:t>Cotiviti (2024). Payment Policy Management; Responsible Use of AI in Healthcare.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C7D8D3"/>
                </a:solidFill>
                <a:latin typeface="Segoe UI"/>
              </a:rPr>
              <a:t>McKinsey &amp; Company (2023). Tackling Healthcare's Biggest Burdens with Generative AI; The Economic Potential of Generative AI.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C7D8D3"/>
                </a:solidFill>
                <a:latin typeface="Segoe UI"/>
              </a:rPr>
              <a:t>Gartner (2023). Worldwide Adoption of Generative AI Across Enterprises.   ·   CMS (2024). National Correct Coding Initiative Edits.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172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Harsha Venkateshwara</a:t>
            </a:r>
            <a:r>
              <a:rPr sz="1200" b="0">
                <a:solidFill>
                  <a:srgbClr val="C7D8D3"/>
                </a:solidFill>
                <a:latin typeface="Segoe UI"/>
              </a:rPr>
              <a:t>   ·   policy-forge-app.vercel.app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172200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B8860B"/>
                </a:solidFill>
                <a:latin typeface="Segoe UI Semi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